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MuseoModerno Medium"/>
      <p:regular r:id="rId15"/>
      <p:bold r:id="rId16"/>
      <p:italic r:id="rId17"/>
      <p:boldItalic r:id="rId18"/>
    </p:embeddedFont>
    <p:embeddedFont>
      <p:font typeface="Source Sans 3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Sans3-bold.fntdata"/><Relationship Id="rId11" Type="http://schemas.openxmlformats.org/officeDocument/2006/relationships/slide" Target="slides/slide7.xml"/><Relationship Id="rId22" Type="http://schemas.openxmlformats.org/officeDocument/2006/relationships/font" Target="fonts/SourceSans3-boldItalic.fntdata"/><Relationship Id="rId10" Type="http://schemas.openxmlformats.org/officeDocument/2006/relationships/slide" Target="slides/slide6.xml"/><Relationship Id="rId21" Type="http://schemas.openxmlformats.org/officeDocument/2006/relationships/font" Target="fonts/SourceSans3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useoModernoMedium-regular.fntdata"/><Relationship Id="rId14" Type="http://schemas.openxmlformats.org/officeDocument/2006/relationships/slide" Target="slides/slide10.xml"/><Relationship Id="rId17" Type="http://schemas.openxmlformats.org/officeDocument/2006/relationships/font" Target="fonts/MuseoModernoMedium-italic.fntdata"/><Relationship Id="rId16" Type="http://schemas.openxmlformats.org/officeDocument/2006/relationships/font" Target="fonts/MuseoModernoMedium-bold.fntdata"/><Relationship Id="rId5" Type="http://schemas.openxmlformats.org/officeDocument/2006/relationships/slide" Target="slides/slide1.xml"/><Relationship Id="rId19" Type="http://schemas.openxmlformats.org/officeDocument/2006/relationships/font" Target="fonts/SourceSans3-regular.fntdata"/><Relationship Id="rId6" Type="http://schemas.openxmlformats.org/officeDocument/2006/relationships/slide" Target="slides/slide2.xml"/><Relationship Id="rId18" Type="http://schemas.openxmlformats.org/officeDocument/2006/relationships/font" Target="fonts/MuseoModernoMedium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Relationship Id="rId5" Type="http://schemas.openxmlformats.org/officeDocument/2006/relationships/image" Target="../media/image8.png"/><Relationship Id="rId6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5842" y="106263"/>
            <a:ext cx="3287316" cy="493097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/>
          <p:nvPr/>
        </p:nvSpPr>
        <p:spPr>
          <a:xfrm>
            <a:off x="496119" y="2130549"/>
            <a:ext cx="4725814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750"/>
              <a:buFont typeface="MuseoModerno Medium"/>
              <a:buNone/>
            </a:pPr>
            <a:r>
              <a:rPr b="0" i="0" lang="en-US" sz="27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Redes Privadas Virtuales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496119" y="2786137"/>
            <a:ext cx="5179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Grupo Enredados · FCEFYN — Redes de Computadoras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" name="Google Shape;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5842" y="106263"/>
            <a:ext cx="3287316" cy="493097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5"/>
          <p:cNvSpPr/>
          <p:nvPr/>
        </p:nvSpPr>
        <p:spPr>
          <a:xfrm>
            <a:off x="496119" y="1021333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750"/>
              <a:buFont typeface="MuseoModerno Medium"/>
              <a:buNone/>
            </a:pPr>
            <a:r>
              <a:rPr b="0" i="0" lang="en-US" sz="27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El Problema: Redes Públicas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496119" y="2119908"/>
            <a:ext cx="2290465" cy="1043657"/>
          </a:xfrm>
          <a:prstGeom prst="roundRect">
            <a:avLst>
              <a:gd fmla="val 2038" name="adj"/>
            </a:avLst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637877" y="2261667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Interceptación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637877" y="2568178"/>
            <a:ext cx="2006947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Datos capturados en tránsito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2928342" y="2119908"/>
            <a:ext cx="2290539" cy="1043657"/>
          </a:xfrm>
          <a:prstGeom prst="roundRect">
            <a:avLst>
              <a:gd fmla="val 2038" name="adj"/>
            </a:avLst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3070101" y="2261667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Modificación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3070101" y="2568178"/>
            <a:ext cx="2007022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Información alterada sin autorización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496119" y="3305324"/>
            <a:ext cx="4722763" cy="816843"/>
          </a:xfrm>
          <a:prstGeom prst="roundRect">
            <a:avLst>
              <a:gd fmla="val 2603" name="adj"/>
            </a:avLst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637877" y="3447083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Suplantación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637877" y="3753594"/>
            <a:ext cx="4439245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Identidades falsas en la 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426619" y="565527"/>
            <a:ext cx="40014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750"/>
              <a:buFont typeface="MuseoModerno Medium"/>
              <a:buNone/>
            </a:pPr>
            <a:r>
              <a:rPr b="0" i="0" lang="en-US" sz="27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La Tríada CIA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3085176" y="565517"/>
            <a:ext cx="26439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Objetivos fundamentales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3085175" y="780338"/>
            <a:ext cx="56322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La seguridad informática se apoya en tres pilares para proteger la información en redes públicas.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313" y="1086313"/>
            <a:ext cx="8335366" cy="3604762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7626600" y="4483500"/>
            <a:ext cx="1517400" cy="660000"/>
          </a:xfrm>
          <a:prstGeom prst="rect">
            <a:avLst/>
          </a:prstGeom>
          <a:solidFill>
            <a:srgbClr val="FFFCF5"/>
          </a:solidFill>
          <a:ln cap="flat" cmpd="sng" w="9525">
            <a:solidFill>
              <a:srgbClr val="FFF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4726" y="104552"/>
            <a:ext cx="3289548" cy="493432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/>
          <p:nvPr/>
        </p:nvSpPr>
        <p:spPr>
          <a:xfrm>
            <a:off x="488379" y="412328"/>
            <a:ext cx="4969669" cy="43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700"/>
              <a:buFont typeface="MuseoModerno Medium"/>
              <a:buNone/>
            </a:pPr>
            <a:r>
              <a:rPr b="0" i="0" lang="en-US" sz="270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Mecanismos de Seguridad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" name="Google Shape;5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379" y="1054447"/>
            <a:ext cx="348853" cy="348853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/>
          <p:nvPr/>
        </p:nvSpPr>
        <p:spPr>
          <a:xfrm>
            <a:off x="488379" y="1574974"/>
            <a:ext cx="1744340" cy="21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Cifrado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488379" y="1875383"/>
            <a:ext cx="473824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050"/>
              <a:buFont typeface="Source Sans 3"/>
              <a:buNone/>
            </a:pPr>
            <a:r>
              <a:rPr b="0" i="0" lang="en-US" sz="10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Transforma datos en ilegibles sin la clave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" name="Google Shape;6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8379" y="2371576"/>
            <a:ext cx="348853" cy="34885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/>
          <p:nvPr/>
        </p:nvSpPr>
        <p:spPr>
          <a:xfrm>
            <a:off x="488379" y="2892103"/>
            <a:ext cx="1744340" cy="21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Funciones Hash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488379" y="3192512"/>
            <a:ext cx="473824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050"/>
              <a:buFont typeface="Source Sans 3"/>
              <a:buNone/>
            </a:pPr>
            <a:r>
              <a:rPr b="0" i="0" lang="en-US" sz="10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Detectan cualquier modificación en los datos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" name="Google Shape;6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8379" y="3688705"/>
            <a:ext cx="348853" cy="348853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/>
          <p:nvPr/>
        </p:nvSpPr>
        <p:spPr>
          <a:xfrm>
            <a:off x="488379" y="4209231"/>
            <a:ext cx="1744340" cy="21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Autenticación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488379" y="4509641"/>
            <a:ext cx="473824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050"/>
              <a:buFont typeface="Source Sans 3"/>
              <a:buNone/>
            </a:pPr>
            <a:r>
              <a:rPr b="0" i="0" lang="en-US" sz="10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Verifica la identidad real del usuario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/>
          <p:nvPr/>
        </p:nvSpPr>
        <p:spPr>
          <a:xfrm>
            <a:off x="7626600" y="4483500"/>
            <a:ext cx="1517400" cy="660000"/>
          </a:xfrm>
          <a:prstGeom prst="rect">
            <a:avLst/>
          </a:prstGeom>
          <a:solidFill>
            <a:srgbClr val="FFFCF5"/>
          </a:solidFill>
          <a:ln cap="flat" cmpd="sng" w="9525">
            <a:solidFill>
              <a:srgbClr val="FFF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8"/>
          <p:cNvSpPr/>
          <p:nvPr/>
        </p:nvSpPr>
        <p:spPr>
          <a:xfrm>
            <a:off x="438375" y="667225"/>
            <a:ext cx="3823500" cy="9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750"/>
              <a:buFont typeface="MuseoModerno Medium"/>
              <a:buNone/>
            </a:pPr>
            <a:r>
              <a:rPr b="0" i="0" lang="en-US" sz="27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Criptografía: </a:t>
            </a:r>
            <a:endParaRPr b="0" i="0" sz="2750" u="none" cap="none" strike="noStrike">
              <a:solidFill>
                <a:srgbClr val="124E73"/>
              </a:solidFill>
              <a:latin typeface="MuseoModerno Medium"/>
              <a:ea typeface="MuseoModerno Medium"/>
              <a:cs typeface="MuseoModerno Medium"/>
              <a:sym typeface="MuseoModerno Medium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750"/>
              <a:buFont typeface="MuseoModerno Medium"/>
              <a:buNone/>
            </a:pPr>
            <a:r>
              <a:rPr b="0" i="0" lang="en-US" sz="27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Dos Enfoques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438375" y="1961099"/>
            <a:ext cx="4107000" cy="2522400"/>
          </a:xfrm>
          <a:prstGeom prst="roundRect">
            <a:avLst>
              <a:gd fmla="val 973" name="adj"/>
            </a:avLst>
          </a:prstGeom>
          <a:solidFill>
            <a:srgbClr val="325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8"/>
          <p:cNvSpPr/>
          <p:nvPr/>
        </p:nvSpPr>
        <p:spPr>
          <a:xfrm>
            <a:off x="580121" y="2660650"/>
            <a:ext cx="38235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useoModerno Medium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Simétrica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580131" y="3023869"/>
            <a:ext cx="38235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ource Sans 3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Una única clave para cifrar y descifrar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ource Sans 3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Algoritmo AES</a:t>
            </a:r>
            <a:r>
              <a:rPr b="0" i="0" lang="en-US" sz="13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muy eficiente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4802624" y="2660650"/>
            <a:ext cx="39030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1350"/>
              <a:buFont typeface="MuseoModerno Medium"/>
              <a:buNone/>
            </a:pPr>
            <a:r>
              <a:rPr b="0" i="0" lang="en-US" sz="15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Asimétrica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4802626" y="3023869"/>
            <a:ext cx="39030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3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Par de claves: pública y privada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3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Resuelve la distribución segura de claves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4647376" y="719637"/>
            <a:ext cx="3903000" cy="779700"/>
          </a:xfrm>
          <a:prstGeom prst="roundRect">
            <a:avLst>
              <a:gd fmla="val 2728" name="adj"/>
            </a:avLst>
          </a:prstGeom>
          <a:solidFill>
            <a:srgbClr val="50738C"/>
          </a:solidFill>
          <a:ln cap="flat" cmpd="sng" w="9525">
            <a:solidFill>
              <a:srgbClr val="FFF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CF5"/>
              </a:solidFill>
            </a:endParaRPr>
          </a:p>
        </p:txBody>
      </p:sp>
      <p:pic>
        <p:nvPicPr>
          <p:cNvPr descr="preencoded.png" id="81" name="Google Shape;8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9135" y="925169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8"/>
          <p:cNvSpPr/>
          <p:nvPr/>
        </p:nvSpPr>
        <p:spPr>
          <a:xfrm>
            <a:off x="5108073" y="882604"/>
            <a:ext cx="33006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ource Sans 3"/>
              <a:buNone/>
            </a:pPr>
            <a:r>
              <a:rPr b="0" i="0" lang="en-US" sz="1300" u="none" cap="none" strike="noStrike">
                <a:solidFill>
                  <a:srgbClr val="FFFCF5"/>
                </a:solidFill>
                <a:latin typeface="Source Sans 3"/>
                <a:ea typeface="Source Sans 3"/>
                <a:cs typeface="Source Sans 3"/>
                <a:sym typeface="Source Sans 3"/>
              </a:rPr>
              <a:t>En la práctica se combinan: asimétrica para autenticar, simétrica para cifrar el tráfico.</a:t>
            </a:r>
            <a:endParaRPr b="0" i="0" sz="1300" u="none" cap="none" strike="noStrike">
              <a:solidFill>
                <a:srgbClr val="FFFC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8"/>
          <p:cNvSpPr/>
          <p:nvPr/>
        </p:nvSpPr>
        <p:spPr>
          <a:xfrm>
            <a:off x="4545375" y="1961099"/>
            <a:ext cx="4107000" cy="2522400"/>
          </a:xfrm>
          <a:prstGeom prst="roundRect">
            <a:avLst>
              <a:gd fmla="val 973" name="adj"/>
            </a:avLst>
          </a:prstGeom>
          <a:noFill/>
          <a:ln cap="flat" cmpd="sng" w="9525">
            <a:solidFill>
              <a:srgbClr val="124E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5842" y="106263"/>
            <a:ext cx="3287316" cy="493097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9"/>
          <p:cNvSpPr/>
          <p:nvPr/>
        </p:nvSpPr>
        <p:spPr>
          <a:xfrm>
            <a:off x="496119" y="1011585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750"/>
              <a:buFont typeface="MuseoModerno Medium"/>
              <a:buNone/>
            </a:pPr>
            <a:r>
              <a:rPr b="0" i="0" lang="en-US" sz="27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¿Qué es una VPN?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496119" y="1667173"/>
            <a:ext cx="4722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Comunicación segura sobre redes públicas: dos dispositivos se comunican como si estuvieran en una red privada.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3" name="Google Shape;9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069" y="2280270"/>
            <a:ext cx="4741813" cy="85494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9"/>
          <p:cNvSpPr/>
          <p:nvPr/>
        </p:nvSpPr>
        <p:spPr>
          <a:xfrm>
            <a:off x="714077" y="2441079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Encapsulación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9"/>
          <p:cNvSpPr/>
          <p:nvPr/>
        </p:nvSpPr>
        <p:spPr>
          <a:xfrm>
            <a:off x="714077" y="2747590"/>
            <a:ext cx="4343995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El paquete original se envuelve en un nuevo sobre postal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6" name="Google Shape;9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069" y="3276972"/>
            <a:ext cx="4741813" cy="854943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9"/>
          <p:cNvSpPr/>
          <p:nvPr/>
        </p:nvSpPr>
        <p:spPr>
          <a:xfrm>
            <a:off x="714077" y="3437781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Tunneling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714077" y="3744292"/>
            <a:ext cx="4343995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Canal virtual; los dispositivos intermedios solo ven el sobre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496119" y="1273969"/>
            <a:ext cx="4953000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750"/>
              <a:buFont typeface="MuseoModerno Medium"/>
              <a:buNone/>
            </a:pPr>
            <a:r>
              <a:rPr b="0" i="0" lang="en-US" sz="27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Componentes de una VPN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" name="Google Shape;10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000473"/>
            <a:ext cx="1507480" cy="93166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0"/>
          <p:cNvSpPr/>
          <p:nvPr/>
        </p:nvSpPr>
        <p:spPr>
          <a:xfrm>
            <a:off x="496119" y="3109317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Cliente VPN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0"/>
          <p:cNvSpPr/>
          <p:nvPr/>
        </p:nvSpPr>
        <p:spPr>
          <a:xfrm>
            <a:off x="496119" y="3415829"/>
            <a:ext cx="2599134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Inicia la conexión y cifra los datos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8" name="Google Shape;10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2433" y="2000473"/>
            <a:ext cx="1507480" cy="93166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0"/>
          <p:cNvSpPr/>
          <p:nvPr/>
        </p:nvSpPr>
        <p:spPr>
          <a:xfrm>
            <a:off x="3272433" y="3109317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Servidor VPN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3272433" y="3415829"/>
            <a:ext cx="2599134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Acepta y autentica las conexiones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" name="Google Shape;11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48747" y="2000473"/>
            <a:ext cx="1507480" cy="93166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0"/>
          <p:cNvSpPr/>
          <p:nvPr/>
        </p:nvSpPr>
        <p:spPr>
          <a:xfrm>
            <a:off x="6048747" y="3109317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Gateway VPN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0"/>
          <p:cNvSpPr/>
          <p:nvPr/>
        </p:nvSpPr>
        <p:spPr>
          <a:xfrm>
            <a:off x="6048747" y="3415829"/>
            <a:ext cx="2599134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Punto de entrada y salida del tráfico protegido entre redes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0"/>
          <p:cNvSpPr/>
          <p:nvPr/>
        </p:nvSpPr>
        <p:spPr>
          <a:xfrm>
            <a:off x="7626600" y="4483500"/>
            <a:ext cx="1517400" cy="660000"/>
          </a:xfrm>
          <a:prstGeom prst="rect">
            <a:avLst/>
          </a:prstGeom>
          <a:solidFill>
            <a:srgbClr val="FFFCF5"/>
          </a:solidFill>
          <a:ln cap="flat" cmpd="sng" w="9525">
            <a:solidFill>
              <a:srgbClr val="FFF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"/>
          <p:cNvSpPr/>
          <p:nvPr/>
        </p:nvSpPr>
        <p:spPr>
          <a:xfrm>
            <a:off x="496119" y="770334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750"/>
              <a:buFont typeface="MuseoModerno Medium"/>
              <a:buNone/>
            </a:pPr>
            <a:r>
              <a:rPr b="0" i="0" lang="en-US" sz="27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Protocolos VPN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1" name="Google Shape;12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777380"/>
            <a:ext cx="1631305" cy="224417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1"/>
          <p:cNvSpPr/>
          <p:nvPr/>
        </p:nvSpPr>
        <p:spPr>
          <a:xfrm>
            <a:off x="656927" y="2363465"/>
            <a:ext cx="130968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TLS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1"/>
          <p:cNvSpPr/>
          <p:nvPr/>
        </p:nvSpPr>
        <p:spPr>
          <a:xfrm>
            <a:off x="656927" y="2726680"/>
            <a:ext cx="1309688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Capa de aplicación — ideal para acceso remoto web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" name="Google Shape;12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9182" y="1777380"/>
            <a:ext cx="1631379" cy="224417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1"/>
          <p:cNvSpPr/>
          <p:nvPr/>
        </p:nvSpPr>
        <p:spPr>
          <a:xfrm>
            <a:off x="2429991" y="2363465"/>
            <a:ext cx="130976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IPsec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1"/>
          <p:cNvSpPr/>
          <p:nvPr/>
        </p:nvSpPr>
        <p:spPr>
          <a:xfrm>
            <a:off x="2429991" y="2726680"/>
            <a:ext cx="1309762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Protege el tráfico a nivel de red, transparente para aplicaciones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7" name="Google Shape;12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2321" y="1777380"/>
            <a:ext cx="1631379" cy="224417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1"/>
          <p:cNvSpPr/>
          <p:nvPr/>
        </p:nvSpPr>
        <p:spPr>
          <a:xfrm>
            <a:off x="4203129" y="2363465"/>
            <a:ext cx="130976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IKEv2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1"/>
          <p:cNvSpPr/>
          <p:nvPr/>
        </p:nvSpPr>
        <p:spPr>
          <a:xfrm>
            <a:off x="4203129" y="2726680"/>
            <a:ext cx="1309762" cy="1134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Negocia y renueva parámetros de seguridad — incluye </a:t>
            </a:r>
            <a:r>
              <a:rPr b="0" i="1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Perfect Forward Secrecy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0" name="Google Shape;13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4339" y="1585392"/>
            <a:ext cx="2628230" cy="262823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1"/>
          <p:cNvSpPr/>
          <p:nvPr/>
        </p:nvSpPr>
        <p:spPr>
          <a:xfrm>
            <a:off x="7626600" y="4483500"/>
            <a:ext cx="1517400" cy="660000"/>
          </a:xfrm>
          <a:prstGeom prst="rect">
            <a:avLst/>
          </a:prstGeom>
          <a:solidFill>
            <a:srgbClr val="FFFCF5"/>
          </a:solidFill>
          <a:ln cap="flat" cmpd="sng" w="9525">
            <a:solidFill>
              <a:srgbClr val="FFF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"/>
          <p:cNvSpPr/>
          <p:nvPr/>
        </p:nvSpPr>
        <p:spPr>
          <a:xfrm>
            <a:off x="496119" y="1403152"/>
            <a:ext cx="5260256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750"/>
              <a:buFont typeface="MuseoModerno Medium"/>
              <a:buNone/>
            </a:pPr>
            <a:r>
              <a:rPr b="0" i="0" lang="en-US" sz="27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Arquitecturas de Despliegue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8" name="Google Shape;13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129656"/>
            <a:ext cx="2717229" cy="56703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2"/>
          <p:cNvSpPr/>
          <p:nvPr/>
        </p:nvSpPr>
        <p:spPr>
          <a:xfrm>
            <a:off x="637877" y="2838450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Host-to-Host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2"/>
          <p:cNvSpPr/>
          <p:nvPr/>
        </p:nvSpPr>
        <p:spPr>
          <a:xfrm>
            <a:off x="637877" y="3144962"/>
            <a:ext cx="2433712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Dos equipos, túnel directo. Simple, no escala.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1" name="Google Shape;14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3348" y="2129656"/>
            <a:ext cx="2717229" cy="56703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2"/>
          <p:cNvSpPr/>
          <p:nvPr/>
        </p:nvSpPr>
        <p:spPr>
          <a:xfrm>
            <a:off x="3355107" y="2838450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Remote Access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2"/>
          <p:cNvSpPr/>
          <p:nvPr/>
        </p:nvSpPr>
        <p:spPr>
          <a:xfrm>
            <a:off x="3355107" y="3144962"/>
            <a:ext cx="2433712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Usuario individual a red corporativa. Ideal para teletrabajo.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4" name="Google Shape;14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30578" y="2129656"/>
            <a:ext cx="2717229" cy="56703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2"/>
          <p:cNvSpPr/>
          <p:nvPr/>
        </p:nvSpPr>
        <p:spPr>
          <a:xfrm>
            <a:off x="6072336" y="2838450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Site-to-Site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2"/>
          <p:cNvSpPr/>
          <p:nvPr/>
        </p:nvSpPr>
        <p:spPr>
          <a:xfrm>
            <a:off x="6072336" y="3144962"/>
            <a:ext cx="2433712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Redes completas conectadas. Gateways activos permanentemente.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2"/>
          <p:cNvSpPr/>
          <p:nvPr/>
        </p:nvSpPr>
        <p:spPr>
          <a:xfrm>
            <a:off x="7626600" y="4483500"/>
            <a:ext cx="1517400" cy="660000"/>
          </a:xfrm>
          <a:prstGeom prst="rect">
            <a:avLst/>
          </a:prstGeom>
          <a:solidFill>
            <a:srgbClr val="FFFCF5"/>
          </a:solidFill>
          <a:ln cap="flat" cmpd="sng" w="9525">
            <a:solidFill>
              <a:srgbClr val="FFF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4" name="Google Shape;1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3610" y="102915"/>
            <a:ext cx="3291780" cy="493767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3"/>
          <p:cNvSpPr/>
          <p:nvPr/>
        </p:nvSpPr>
        <p:spPr>
          <a:xfrm>
            <a:off x="480640" y="395808"/>
            <a:ext cx="3890590" cy="429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700"/>
              <a:buFont typeface="MuseoModerno Medium"/>
              <a:buNone/>
            </a:pPr>
            <a:r>
              <a:rPr b="0" i="0" lang="en-US" sz="270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Conclusión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3"/>
          <p:cNvSpPr/>
          <p:nvPr/>
        </p:nvSpPr>
        <p:spPr>
          <a:xfrm>
            <a:off x="480640" y="1024458"/>
            <a:ext cx="4753719" cy="3140869"/>
          </a:xfrm>
          <a:prstGeom prst="roundRect">
            <a:avLst>
              <a:gd fmla="val 656" name="adj"/>
            </a:avLst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3"/>
          <p:cNvSpPr/>
          <p:nvPr/>
        </p:nvSpPr>
        <p:spPr>
          <a:xfrm>
            <a:off x="480640" y="1024458"/>
            <a:ext cx="4753719" cy="785217"/>
          </a:xfrm>
          <a:prstGeom prst="rect">
            <a:avLst/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3"/>
          <p:cNvSpPr/>
          <p:nvPr/>
        </p:nvSpPr>
        <p:spPr>
          <a:xfrm>
            <a:off x="617934" y="1161752"/>
            <a:ext cx="1716658" cy="21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Criptografía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617934" y="1456060"/>
            <a:ext cx="4479131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050"/>
              <a:buFont typeface="Source Sans 3"/>
              <a:buNone/>
            </a:pPr>
            <a:r>
              <a:rPr b="0" i="0" lang="en-US" sz="10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Simétrica + asimétrica + hash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480640" y="1809676"/>
            <a:ext cx="4753719" cy="785217"/>
          </a:xfrm>
          <a:prstGeom prst="rect">
            <a:avLst/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3"/>
          <p:cNvSpPr/>
          <p:nvPr/>
        </p:nvSpPr>
        <p:spPr>
          <a:xfrm>
            <a:off x="480640" y="1809676"/>
            <a:ext cx="4753719" cy="19050"/>
          </a:xfrm>
          <a:prstGeom prst="roundRect">
            <a:avLst>
              <a:gd fmla="val 108139" name="adj"/>
            </a:avLst>
          </a:prstGeom>
          <a:solidFill>
            <a:srgbClr val="D9D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3"/>
          <p:cNvSpPr/>
          <p:nvPr/>
        </p:nvSpPr>
        <p:spPr>
          <a:xfrm>
            <a:off x="617934" y="1946970"/>
            <a:ext cx="1716658" cy="21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Protocolos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617934" y="2241277"/>
            <a:ext cx="4479131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050"/>
              <a:buFont typeface="Source Sans 3"/>
              <a:buNone/>
            </a:pPr>
            <a:r>
              <a:rPr b="0" i="0" lang="en-US" sz="10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IPsec, TLS, IKEv2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3"/>
          <p:cNvSpPr/>
          <p:nvPr/>
        </p:nvSpPr>
        <p:spPr>
          <a:xfrm>
            <a:off x="480640" y="2594893"/>
            <a:ext cx="4753719" cy="785217"/>
          </a:xfrm>
          <a:prstGeom prst="rect">
            <a:avLst/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3"/>
          <p:cNvSpPr/>
          <p:nvPr/>
        </p:nvSpPr>
        <p:spPr>
          <a:xfrm>
            <a:off x="480640" y="2594893"/>
            <a:ext cx="4753719" cy="19050"/>
          </a:xfrm>
          <a:prstGeom prst="roundRect">
            <a:avLst>
              <a:gd fmla="val 108139" name="adj"/>
            </a:avLst>
          </a:prstGeom>
          <a:solidFill>
            <a:srgbClr val="D9D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3"/>
          <p:cNvSpPr/>
          <p:nvPr/>
        </p:nvSpPr>
        <p:spPr>
          <a:xfrm>
            <a:off x="617934" y="2732187"/>
            <a:ext cx="1716658" cy="21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Arquitecturas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617934" y="3026494"/>
            <a:ext cx="4479131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050"/>
              <a:buFont typeface="Source Sans 3"/>
              <a:buNone/>
            </a:pPr>
            <a:r>
              <a:rPr b="0" i="0" lang="en-US" sz="10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Host, Remote, Site-to-Site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480640" y="3380110"/>
            <a:ext cx="4753719" cy="785217"/>
          </a:xfrm>
          <a:prstGeom prst="rect">
            <a:avLst/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3"/>
          <p:cNvSpPr/>
          <p:nvPr/>
        </p:nvSpPr>
        <p:spPr>
          <a:xfrm>
            <a:off x="480640" y="3380110"/>
            <a:ext cx="4753719" cy="19050"/>
          </a:xfrm>
          <a:prstGeom prst="roundRect">
            <a:avLst>
              <a:gd fmla="val 108139" name="adj"/>
            </a:avLst>
          </a:prstGeom>
          <a:solidFill>
            <a:srgbClr val="D9D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3"/>
          <p:cNvSpPr/>
          <p:nvPr/>
        </p:nvSpPr>
        <p:spPr>
          <a:xfrm>
            <a:off x="617934" y="3517404"/>
            <a:ext cx="1716658" cy="21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Objetivo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617934" y="3811712"/>
            <a:ext cx="4479131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050"/>
              <a:buFont typeface="Source Sans 3"/>
              <a:buNone/>
            </a:pPr>
            <a:r>
              <a:rPr b="0" i="0" lang="en-US" sz="10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Tríada CIA garantizada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3"/>
          <p:cNvSpPr/>
          <p:nvPr/>
        </p:nvSpPr>
        <p:spPr>
          <a:xfrm>
            <a:off x="480640" y="4314974"/>
            <a:ext cx="4753719" cy="432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050"/>
              <a:buFont typeface="Source Sans 3"/>
              <a:buNone/>
            </a:pPr>
            <a:r>
              <a:rPr b="0" i="0" lang="en-US" sz="10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Las VPN son tecnología madura y fundamental en entornos corporativos, educativos y personales.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